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 Medium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13B13F-F632-4454-ABAD-632A9EAC5475}">
  <a:tblStyle styleId="{FE13B13F-F632-4454-ABAD-632A9EAC54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62125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Walmart Sales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C220"/>
                </a:solidFill>
                <a:latin typeface="Merriweather"/>
                <a:ea typeface="Merriweather"/>
                <a:cs typeface="Merriweather"/>
                <a:sym typeface="Merriweather"/>
              </a:rPr>
              <a:t>Forecasting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2902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Case Study: ARIMA, SARIMA &amp; Exponential Smoothing Analysis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524500" y="4676775"/>
            <a:ext cx="1143000" cy="381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9787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511063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OBJECTIVES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143000"/>
            <a:ext cx="4867275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128837"/>
            <a:ext cx="520065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00125" y="2357437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Analyze: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Evaluate historical sales trends and seasonality patterns.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3176587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Implement three distinct time-series forecasting methodologies.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3995737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Benchmark: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Compare performance metrics (MAE/RMSE) to find the optimal model.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4814887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Optimise: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Support inventory management and strategic demand planning.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003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1945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3860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857750"/>
            <a:ext cx="3143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1200"/>
            <a:ext cx="3492549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81200"/>
            <a:ext cx="3492549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81200"/>
            <a:ext cx="3492549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577072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ANALYTICS PIPELINE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1143000"/>
            <a:ext cx="5495925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81075" y="3152775"/>
            <a:ext cx="288707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Preparation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81075" y="3743325"/>
            <a:ext cx="2749599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 merging of Sales, Features, and Store datasets. Date conversion and handling of missing markdown values.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59374" y="3152775"/>
            <a:ext cx="288707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Exploration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759374" y="3743325"/>
            <a:ext cx="27495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Aggregation at the Store level to identify annual cycles and the impact of the "Moving Easter" holiday.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37674" y="3152775"/>
            <a:ext cx="288707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Modeling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537674" y="3743325"/>
            <a:ext cx="27495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Training ARIMA, SARIMA, and Exponential Smoothing with Damped Trends to ensure stability.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075" y="23717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9374" y="23717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37674" y="23717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30388"/>
            <a:ext cx="11049000" cy="682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89312"/>
            <a:ext cx="52387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946475"/>
            <a:ext cx="523875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70008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STATIONARITY &amp; DIFFERENCING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143000"/>
            <a:ext cx="6667500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1916013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Before modeling, we used the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Augmented Dickey-Fuller (ADF)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test to determine stationarity.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878038"/>
            <a:ext cx="10553700" cy="1873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81075" y="4332237"/>
            <a:ext cx="44958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Raw sales data was non-stationary. First-order differencing was applied to stabilize the mean for ARIMA/SARIMA modeling.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91325" y="4489400"/>
            <a:ext cx="44958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Strategy: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Data was aggregated to the Store Level to reduce department-specific noise and strengthen the seasonal signal.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71500"/>
            <a:ext cx="676084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IDENTIFYING SEASONAL PEAKS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1143000"/>
            <a:ext cx="6438900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2033587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6381750" y="2424112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Sales Drivers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810375" y="2957512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Spring Surges: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Major revenue spikes identified in February and April.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810375" y="3776662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Easter Effect: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Moving holidays shift peak weeks annually, requiring exogenous modeling.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810375" y="4595812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Markdowns: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Promotional discounts correlate strongly with holiday sales volume.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00037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81952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638675"/>
            <a:ext cx="2190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0300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00300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00300"/>
            <a:ext cx="3492549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571500"/>
            <a:ext cx="475059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MODELING SUITE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143000"/>
            <a:ext cx="4524375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981075" y="2733675"/>
            <a:ext cx="288707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ARIMA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81075" y="3324225"/>
            <a:ext cx="2749599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Baseline model. Effective for general trends but failed to capture the high volatility of retail seasonality.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759374" y="2733675"/>
            <a:ext cx="288707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SARIMAX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759374" y="3324225"/>
            <a:ext cx="27495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Seasonal extension using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Holiday Flags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as exogenous variables to anticipate annual spikes.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537674" y="2733675"/>
            <a:ext cx="288707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 Smoothing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537674" y="3324225"/>
            <a:ext cx="27495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Holt-Winters method using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Damped Trends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 prevent forecast explosion in long horizons.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4625"/>
            <a:ext cx="52387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14625"/>
            <a:ext cx="523875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571500"/>
            <a:ext cx="599074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RESOLVING MODEL FAILURE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1143000"/>
            <a:ext cx="5705475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981075" y="3048000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Initial Challenge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81075" y="3638550"/>
            <a:ext cx="44958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Exponential Smoothing forecasts "exploded" into unrealistically high values, while ARIMA flatlined at the mean.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791325" y="3048000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C55E"/>
                </a:solidFill>
                <a:latin typeface="Merriweather"/>
                <a:ea typeface="Merriweather"/>
                <a:cs typeface="Merriweather"/>
                <a:sym typeface="Merriweather"/>
              </a:rPr>
              <a:t>The Fix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91325" y="3638550"/>
            <a:ext cx="44958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Implementation of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Damped Trends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Smoothing and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Exogenous Holiday Variables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SARIMAX stabilized all outputs.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6050"/>
            <a:ext cx="1104900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571500"/>
            <a:ext cx="703087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BENCHMARKING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1143000"/>
            <a:ext cx="6696075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20"/>
          <p:cNvGraphicFramePr/>
          <p:nvPr/>
        </p:nvGraphicFramePr>
        <p:xfrm>
          <a:off x="571500" y="2686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{FE13B13F-F632-4454-ABAD-632A9EAC5475}</a:tableStyleId>
              </a:tblPr>
              <a:tblGrid>
                <a:gridCol w="3119875"/>
                <a:gridCol w="2764925"/>
                <a:gridCol w="3227475"/>
                <a:gridCol w="1936700"/>
              </a:tblGrid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Forecasting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MAE (Mean Error)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RMSE (Squared Error)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Final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 Smoothing (Damped)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57,096.41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73,251.23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C5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WINNER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ARIMA (Baseline)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118,602.74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136,571.34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Underfit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SARIMAX (Holiday-Aware)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343,727.61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347,409.78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Overfit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0"/>
          <p:cNvSpPr/>
          <p:nvPr/>
        </p:nvSpPr>
        <p:spPr>
          <a:xfrm>
            <a:off x="571500" y="3948112"/>
            <a:ext cx="3119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691383" y="3948112"/>
            <a:ext cx="27649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6456312" y="3948112"/>
            <a:ext cx="3227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9683799" y="3948112"/>
            <a:ext cx="1936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71500" y="4548187"/>
            <a:ext cx="3119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691383" y="4548187"/>
            <a:ext cx="27649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456312" y="4548187"/>
            <a:ext cx="3227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9683799" y="4548187"/>
            <a:ext cx="1936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571500"/>
            <a:ext cx="665083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COMPARISON ANALYSIS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1143000"/>
            <a:ext cx="6334125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4405312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Note:</a:t>
            </a:r>
            <a:r>
              <a:rPr b="0" i="1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Lower values indicate superior accuracy. Exponential Smoothing showed a 50% improvement over the standard ARIMA baseline.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571500"/>
            <a:ext cx="608076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 IMPACT ANALYSIS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71500" y="1143000"/>
            <a:ext cx="5791200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3005137"/>
            <a:ext cx="52387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1.5x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4433887"/>
            <a:ext cx="523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C220"/>
                </a:solidFill>
                <a:latin typeface="DM Sans"/>
                <a:ea typeface="DM Sans"/>
                <a:cs typeface="DM Sans"/>
                <a:sym typeface="DM Sans"/>
              </a:rPr>
              <a:t>Sales Multiplier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381750" y="2890837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Value of Accuracy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381750" y="3481387"/>
            <a:ext cx="52387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Predicting the 50% holiday surge prevents costly stockouts and overstocking. Accurate forecasting with Exponential Smoothing allows for just-in-time replenishment strategies across the retail network.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571500" y="1476375"/>
            <a:ext cx="419052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FINAL CONCLUSION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2047875"/>
            <a:ext cx="3990975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1000125" y="2609850"/>
            <a:ext cx="4524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Best Model: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Exponential Smoothing with Damped Trends is the most reliable tool for Store 1.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000125" y="3743325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Seasonality: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Deterministic seasonality (Feb/April) is the primary revenue signal.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000125" y="4562475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Strategic Value: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Data-driven forecasting directly impacts Supply Chain efficiency.</a:t>
            </a:r>
            <a:endParaRPr/>
          </a:p>
        </p:txBody>
      </p:sp>
      <p:pic>
        <p:nvPicPr>
          <p:cNvPr descr="image.png" id="231" name="Google Shape;2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27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861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05337"/>
            <a:ext cx="1905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2667000"/>
            <a:ext cx="5715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295275" y="19050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152400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C220"/>
                </a:solidFill>
                <a:latin typeface="DM Sans"/>
                <a:ea typeface="DM Sans"/>
                <a:cs typeface="DM Sans"/>
                <a:sym typeface="DM Sans"/>
              </a:rPr>
              <a:t>Walmart Sales Forecasting Project Summary</a:t>
            </a:r>
            <a:endParaRPr/>
          </a:p>
        </p:txBody>
      </p:sp>
      <p:pic>
        <p:nvPicPr>
          <p:cNvPr descr="image.png" id="242" name="Google Shape;24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7550" y="2686050"/>
            <a:ext cx="56769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571500" y="571500"/>
            <a:ext cx="351043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571500" y="1143000"/>
            <a:ext cx="3343275" cy="28575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2381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152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39243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4686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686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9" name="Google Shape;25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4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25312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https://slidemodel.com/wp-content/uploads/21054-01-growing-timeline-concept-powerpoint-template-1-558x314.jpg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66875" y="27646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slidemodel.com</a:t>
            </a:r>
            <a:endParaRPr/>
          </a:p>
        </p:txBody>
      </p:sp>
      <p:pic>
        <p:nvPicPr>
          <p:cNvPr descr="image.png" id="262" name="Google Shape;26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95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33027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https://dashthis.com/media/4150/data-visualization-dashboard.png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5" y="35361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dashthis.com</a:t>
            </a:r>
            <a:endParaRPr/>
          </a:p>
        </p:txBody>
      </p:sp>
      <p:pic>
        <p:nvPicPr>
          <p:cNvPr descr="image.png" id="265" name="Google Shape;26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7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40743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https://anchanto.com/wp-content/uploads/2024/09/anchanto-blog-challenges-in-warehouse-management.jpg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43076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anchanto.com</a:t>
            </a:r>
            <a:endParaRPr/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38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48458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https://static1.gensler.com/uploads/image/104236/1767051539377/project-walmart-home-office-gay-01-2000x1125.jpg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50792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www.gensler.com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